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75320" y="411480"/>
            <a:ext cx="2926080" cy="2926080"/>
          </a:xfrm>
          <a:prstGeom prst="ellipse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1051560"/>
            <a:ext cx="2011680" cy="2011680"/>
          </a:xfrm>
          <a:prstGeom prst="ellipse">
            <a:avLst/>
          </a:prstGeom>
          <a:solidFill>
            <a:srgbClr val="2D6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823960" y="2880360"/>
            <a:ext cx="2651760" cy="2651760"/>
          </a:xfrm>
          <a:prstGeom prst="ellipse">
            <a:avLst/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24160" y="3931920"/>
            <a:ext cx="1097280" cy="1097280"/>
          </a:xfrm>
          <a:prstGeom prst="ellipse">
            <a:avLst/>
          </a:prstGeom>
          <a:solidFill>
            <a:srgbClr val="3ED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26679" y="1920240"/>
            <a:ext cx="342900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28431" y="2176272"/>
            <a:ext cx="27432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17085"/>
                </a:solidFill>
                <a:latin typeface="Aptos"/>
              </a:rPr>
              <a:t>PROFIL SISWA</a:t>
            </a:r>
            <a:endParaRPr sz="1000" b="1">
              <a:solidFill>
                <a:srgbClr val="617085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28431" y="2578608"/>
            <a:ext cx="265176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273A"/>
                </a:solidFill>
                <a:latin typeface="Aptos"/>
              </a:rPr>
              <a:t>Nilai  ?  Minat</a:t>
            </a:r>
            <a:endParaRPr sz="1800" b="1">
              <a:solidFill>
                <a:srgbClr val="1B273A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28431" y="2962656"/>
            <a:ext cx="265176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17085"/>
                </a:solidFill>
                <a:latin typeface="Aptos"/>
              </a:rPr>
              <a:t>Potensi  ?  Aspirasi</a:t>
            </a:r>
            <a:endParaRPr sz="1500" b="0">
              <a:solidFill>
                <a:srgbClr val="617085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28431" y="3493008"/>
            <a:ext cx="2670048" cy="438912"/>
          </a:xfrm>
          <a:prstGeom prst="roundRect">
            <a:avLst>
              <a:gd name="adj" fmla="val 12000"/>
            </a:avLst>
          </a:prstGeom>
          <a:solidFill>
            <a:srgbClr val="2D6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3547872"/>
            <a:ext cx="2450592" cy="2743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REKOMENDASI AWAL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3232" y="594360"/>
            <a:ext cx="512064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ED0CD"/>
                </a:solidFill>
                <a:latin typeface="Aptos"/>
              </a:rPr>
              <a:t>PROYEK AKHIR  /  RENCANA PENGEMBANGAN</a:t>
            </a:r>
            <a:endParaRPr sz="1100" b="1">
              <a:solidFill>
                <a:srgbClr val="3ED0CD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3232" y="1234440"/>
            <a:ext cx="6766560" cy="1572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Aptos"/>
              </a:rPr>
              <a:t>ProdiPath</a:t>
            </a:r>
            <a:endParaRPr sz="4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49808" y="2176272"/>
            <a:ext cx="6400800" cy="10789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Sistem Rekomendasi Program Studi Kuliah
untuk Siswa Kelas XII</a:t>
            </a:r>
            <a:endParaRPr sz="2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9808" y="3401568"/>
            <a:ext cx="6172200" cy="6126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5D3E5"/>
                </a:solidFill>
                <a:latin typeface="Aptos"/>
              </a:rPr>
              <a:t>Membantu siswa mengeksplorasi pilihan studi berdasarkan profil akademik, minat, dan kemampuan.</a:t>
            </a:r>
            <a:endParaRPr sz="1500" b="0">
              <a:solidFill>
                <a:srgbClr val="C5D3E5"/>
              </a:solidFill>
              <a:latin typeface="Apto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49935" y="4316095"/>
            <a:ext cx="6562090" cy="1417320"/>
          </a:xfrm>
          <a:prstGeom prst="roundRect">
            <a:avLst>
              <a:gd name="adj" fmla="val 12000"/>
            </a:avLst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" y="4489704"/>
            <a:ext cx="27432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3ED0CD"/>
                </a:solidFill>
                <a:latin typeface="Aptos"/>
              </a:rPr>
              <a:t>TIM PENGEMBANG</a:t>
            </a:r>
            <a:endParaRPr sz="900" b="1">
              <a:solidFill>
                <a:srgbClr val="3ED0CD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55675" y="4789170"/>
            <a:ext cx="6195060" cy="4044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200" b="1">
                <a:solidFill>
                  <a:srgbClr val="FFFFFF"/>
                </a:solidFill>
                <a:latin typeface="Aptos"/>
              </a:rPr>
              <a:t>Yudistyo Herlambang</a:t>
            </a:r>
            <a:r>
              <a:rPr sz="1200" b="1">
                <a:solidFill>
                  <a:srgbClr val="FFFFFF"/>
                </a:solidFill>
                <a:latin typeface="Aptos"/>
              </a:rPr>
              <a:t> </a:t>
            </a:r>
            <a:r>
              <a:rPr lang="en-US" sz="1200" b="1">
                <a:solidFill>
                  <a:srgbClr val="FFFFFF"/>
                </a:solidFill>
                <a:latin typeface="Aptos"/>
              </a:rPr>
              <a:t>- 24312120 | Maelani Putri - 24312189 | Siti Diana - 24312118</a:t>
            </a:r>
            <a:endParaRPr lang="en-US" sz="1200" b="1">
              <a:solidFill>
                <a:srgbClr val="FFFFFF"/>
              </a:solidFill>
              <a:latin typeface="Aptos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en-US"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9808" y="6309360"/>
            <a:ext cx="54864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9BAEC7"/>
                </a:solidFill>
                <a:latin typeface="Aptos"/>
              </a:rPr>
              <a:t>PRODIPATH  ?  PRESENTASI IDE DAN RENCANA PROYEK</a:t>
            </a:r>
            <a:endParaRPr sz="800" b="1">
              <a:solidFill>
                <a:srgbClr val="9BAEC7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1064240" y="6281928"/>
            <a:ext cx="438912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9BAEC7"/>
                </a:solidFill>
                <a:latin typeface="Aptos"/>
              </a:rPr>
              <a:t>01</a:t>
            </a:r>
            <a:endParaRPr sz="900" b="1">
              <a:solidFill>
                <a:srgbClr val="9BAEC7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77724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D6AE6"/>
                </a:solidFill>
                <a:latin typeface="Aptos"/>
              </a:rPr>
              <a:t>KONTEKS PROYEK</a:t>
            </a:r>
            <a:endParaRPr sz="1000" b="1">
              <a:solidFill>
                <a:srgbClr val="2D6AE6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273A"/>
                </a:solidFill>
                <a:latin typeface="Aptos"/>
              </a:rPr>
              <a:t>Latar Belakang</a:t>
            </a:r>
            <a:endParaRPr sz="2700" b="1">
              <a:solidFill>
                <a:srgbClr val="1B273A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" y="1335024"/>
            <a:ext cx="658368" cy="50292"/>
          </a:xfrm>
          <a:prstGeom prst="rect">
            <a:avLst/>
          </a:prstGeom>
          <a:solidFill>
            <a:srgbClr val="2D6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8686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17085"/>
                </a:solidFill>
                <a:latin typeface="Aptos"/>
              </a:rPr>
              <a:t>PRODIPATH  ?  RENCANA PROYEK AKHIR</a:t>
            </a:r>
            <a:endParaRPr sz="800" b="1">
              <a:solidFill>
                <a:srgbClr val="617085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45952" y="6473952"/>
            <a:ext cx="5029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17085"/>
                </a:solidFill>
                <a:latin typeface="Aptos"/>
              </a:rPr>
              <a:t>02</a:t>
            </a:r>
            <a:endParaRPr sz="1000" b="1">
              <a:solidFill>
                <a:srgbClr val="617085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6400800" cy="7772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B273A"/>
                </a:solidFill>
                <a:latin typeface="Aptos"/>
              </a:rPr>
              <a:t>Memilih program studi setelah lulus SMA adalah keputusan penting yang perlu dipertimbangkan dari beberapa sisi.</a:t>
            </a:r>
            <a:endParaRPr sz="1900" b="1">
              <a:solidFill>
                <a:srgbClr val="1B273A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8368" y="2496312"/>
            <a:ext cx="617220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617085"/>
                </a:solidFill>
                <a:latin typeface="Aptos"/>
              </a:rPr>
              <a:t>Nilai rapor memberi gambaran capaian akademik, sementara minat dan kemampuan membantu siswa mengenali bidang yang ingin dieksplorasi. Informasi tersebut sering kali perlu disusun agar lebih mudah dibandingkan.</a:t>
            </a:r>
            <a:endParaRPr sz="1400" b="0">
              <a:solidFill>
                <a:srgbClr val="617085"/>
              </a:solidFill>
              <a:latin typeface="Apto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269480" y="1645920"/>
            <a:ext cx="4224528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69480" y="1645920"/>
            <a:ext cx="64008" cy="1115568"/>
          </a:xfrm>
          <a:prstGeom prst="rect">
            <a:avLst/>
          </a:prstGeom>
          <a:solidFill>
            <a:srgbClr val="2D6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79" y="1847088"/>
            <a:ext cx="3813048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73A"/>
                </a:solidFill>
                <a:latin typeface="Aptos"/>
              </a:rPr>
              <a:t>Akademik</a:t>
            </a:r>
            <a:endParaRPr sz="1600" b="1">
              <a:solidFill>
                <a:srgbClr val="1B273A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98079" y="2395728"/>
            <a:ext cx="3785616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17085"/>
                </a:solidFill>
                <a:latin typeface="Aptos"/>
              </a:rPr>
              <a:t>Nilai Matematika, Sains, Sosial, dan Bahasa.</a:t>
            </a:r>
            <a:endParaRPr sz="1250" b="0">
              <a:solidFill>
                <a:srgbClr val="617085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269480" y="2926080"/>
            <a:ext cx="4224528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69480" y="2926080"/>
            <a:ext cx="64008" cy="1115568"/>
          </a:xfrm>
          <a:prstGeom prst="rect">
            <a:avLst/>
          </a:prstGeom>
          <a:solidFill>
            <a:srgbClr val="3ED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79" y="3127248"/>
            <a:ext cx="3813048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73A"/>
                </a:solidFill>
                <a:latin typeface="Aptos"/>
              </a:rPr>
              <a:t>Minat</a:t>
            </a:r>
            <a:endParaRPr sz="1600" b="1">
              <a:solidFill>
                <a:srgbClr val="1B273A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98079" y="3675888"/>
            <a:ext cx="3785616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17085"/>
                </a:solidFill>
                <a:latin typeface="Aptos"/>
              </a:rPr>
              <a:t>Ketertarikan pada Teknologi, Seni, dan Komunikasi.</a:t>
            </a:r>
            <a:endParaRPr sz="1250" b="0">
              <a:solidFill>
                <a:srgbClr val="617085"/>
              </a:solidFill>
              <a:latin typeface="Apto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269480" y="4206240"/>
            <a:ext cx="4224528" cy="11155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69480" y="4206240"/>
            <a:ext cx="64008" cy="1115568"/>
          </a:xfrm>
          <a:prstGeom prst="rect">
            <a:avLst/>
          </a:prstGeom>
          <a:solidFill>
            <a:srgbClr val="F8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79" y="4407407"/>
            <a:ext cx="3813048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73A"/>
                </a:solidFill>
                <a:latin typeface="Aptos"/>
              </a:rPr>
              <a:t>Kemampuan</a:t>
            </a:r>
            <a:endParaRPr sz="1600" b="1">
              <a:solidFill>
                <a:srgbClr val="1B273A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98079" y="4956048"/>
            <a:ext cx="3785616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17085"/>
                </a:solidFill>
                <a:latin typeface="Aptos"/>
              </a:rPr>
              <a:t>Penilaian mandiri terhadap kemampuan analitis.</a:t>
            </a:r>
            <a:endParaRPr sz="1250" b="0">
              <a:solidFill>
                <a:srgbClr val="617085"/>
              </a:solidFill>
              <a:latin typeface="Aptos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58368" y="3794760"/>
            <a:ext cx="6172200" cy="1536192"/>
          </a:xfrm>
          <a:prstGeom prst="roundRect">
            <a:avLst>
              <a:gd name="adj" fmla="val 12000"/>
            </a:avLst>
          </a:prstGeom>
          <a:solidFill>
            <a:srgbClr val="E3ED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050791"/>
            <a:ext cx="55778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D6AE6"/>
                </a:solidFill>
                <a:latin typeface="Aptos"/>
              </a:rPr>
              <a:t>GAGASAN PRODIPATH</a:t>
            </a:r>
            <a:endParaRPr sz="1000" b="1">
              <a:solidFill>
                <a:srgbClr val="2D6AE6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32688" y="4434840"/>
            <a:ext cx="5513832" cy="6583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273A"/>
                </a:solidFill>
                <a:latin typeface="Aptos"/>
              </a:rPr>
              <a:t>Mengolah profil tersebut menjadi rekomendasi awal jurusan kuliah yang dapat dieksplorasi bersama guru BK, keluarga, dan informasi kampus.</a:t>
            </a:r>
            <a:endParaRPr sz="1500" b="1">
              <a:solidFill>
                <a:srgbClr val="1B273A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5800" y="5715000"/>
            <a:ext cx="1060704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17085"/>
                </a:solidFill>
                <a:latin typeface="Aptos"/>
              </a:rPr>
              <a:t>Catatan: kebutuhan dan kendala pengguna perlu dikonfirmasi melalui diskusi dengan mitra/siswa.</a:t>
            </a:r>
            <a:endParaRPr sz="1000" b="0">
              <a:solidFill>
                <a:srgbClr val="61708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77724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D6AE6"/>
                </a:solidFill>
                <a:latin typeface="Aptos"/>
              </a:rPr>
              <a:t>MENGAPA SOLUSI DIBUTUHKAN</a:t>
            </a:r>
            <a:endParaRPr sz="1000" b="1">
              <a:solidFill>
                <a:srgbClr val="2D6AE6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273A"/>
                </a:solidFill>
                <a:latin typeface="Aptos"/>
              </a:rPr>
              <a:t>Identifikasi Masalah</a:t>
            </a:r>
            <a:endParaRPr sz="2700" b="1">
              <a:solidFill>
                <a:srgbClr val="1B273A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" y="1335024"/>
            <a:ext cx="658368" cy="50292"/>
          </a:xfrm>
          <a:prstGeom prst="rect">
            <a:avLst/>
          </a:prstGeom>
          <a:solidFill>
            <a:srgbClr val="2D6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8686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17085"/>
                </a:solidFill>
                <a:latin typeface="Aptos"/>
              </a:rPr>
              <a:t>PRODIPATH  ?  RENCANA PROYEK AKHIR</a:t>
            </a:r>
            <a:endParaRPr sz="800" b="1">
              <a:solidFill>
                <a:srgbClr val="617085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45952" y="6473952"/>
            <a:ext cx="5029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17085"/>
                </a:solidFill>
                <a:latin typeface="Aptos"/>
              </a:rPr>
              <a:t>03</a:t>
            </a:r>
            <a:endParaRPr sz="1000" b="1">
              <a:solidFill>
                <a:srgbClr val="617085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1618488"/>
            <a:ext cx="9875520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17085"/>
                </a:solidFill>
                <a:latin typeface="Aptos"/>
              </a:rPr>
              <a:t>Fokus masalah awal yang ingin dieksplorasi bersama calon mitra:</a:t>
            </a:r>
            <a:endParaRPr sz="1500" b="0">
              <a:solidFill>
                <a:srgbClr val="617085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2148840"/>
            <a:ext cx="52578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148840"/>
            <a:ext cx="64008" cy="1417320"/>
          </a:xfrm>
          <a:prstGeom prst="rect">
            <a:avLst/>
          </a:prstGeom>
          <a:solidFill>
            <a:srgbClr val="2D6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6968" y="2359152"/>
            <a:ext cx="365760" cy="365760"/>
          </a:xfrm>
          <a:prstGeom prst="ellipse">
            <a:avLst/>
          </a:prstGeom>
          <a:solidFill>
            <a:srgbClr val="2D6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377440"/>
            <a:ext cx="36576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89888" y="2350008"/>
            <a:ext cx="43434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73A"/>
                </a:solidFill>
                <a:latin typeface="Aptos"/>
              </a:rPr>
              <a:t>Pilihan terasa luas</a:t>
            </a:r>
            <a:endParaRPr sz="1600" b="1">
              <a:solidFill>
                <a:srgbClr val="1B273A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86968" y="2898648"/>
            <a:ext cx="4818888" cy="5394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17085"/>
                </a:solidFill>
                <a:latin typeface="Aptos"/>
              </a:rPr>
              <a:t>Siswa dapat membutuhkan cara terstruktur untuk menghubungkan profil diri dengan bidang studi.</a:t>
            </a:r>
            <a:endParaRPr sz="1250" b="0">
              <a:solidFill>
                <a:srgbClr val="617085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99632" y="2148840"/>
            <a:ext cx="52578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2148840"/>
            <a:ext cx="64008" cy="1417320"/>
          </a:xfrm>
          <a:prstGeom prst="rect">
            <a:avLst/>
          </a:prstGeom>
          <a:solidFill>
            <a:srgbClr val="3ED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28232" y="2359152"/>
            <a:ext cx="365760" cy="365760"/>
          </a:xfrm>
          <a:prstGeom prst="ellipse">
            <a:avLst/>
          </a:prstGeom>
          <a:solidFill>
            <a:srgbClr val="3ED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8232" y="2377440"/>
            <a:ext cx="36576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931152" y="2350008"/>
            <a:ext cx="43434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73A"/>
                </a:solidFill>
                <a:latin typeface="Aptos"/>
              </a:rPr>
              <a:t>Informasi tersebar</a:t>
            </a:r>
            <a:endParaRPr sz="1600" b="1">
              <a:solidFill>
                <a:srgbClr val="1B273A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28232" y="2898648"/>
            <a:ext cx="4818888" cy="5394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17085"/>
                </a:solidFill>
                <a:latin typeface="Aptos"/>
              </a:rPr>
              <a:t>Nilai akademik, minat, dan gambaran jurusan tidak selalu dilihat secara bersamaan.</a:t>
            </a:r>
            <a:endParaRPr sz="1250" b="0">
              <a:solidFill>
                <a:srgbClr val="617085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58368" y="3822191"/>
            <a:ext cx="52578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822191"/>
            <a:ext cx="64008" cy="1417320"/>
          </a:xfrm>
          <a:prstGeom prst="rect">
            <a:avLst/>
          </a:prstGeom>
          <a:solidFill>
            <a:srgbClr val="F8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86968" y="4032504"/>
            <a:ext cx="365760" cy="365760"/>
          </a:xfrm>
          <a:prstGeom prst="ellipse">
            <a:avLst/>
          </a:prstGeom>
          <a:solidFill>
            <a:srgbClr val="F8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4050791"/>
            <a:ext cx="36576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389888" y="4023359"/>
            <a:ext cx="43434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73A"/>
                </a:solidFill>
                <a:latin typeface="Aptos"/>
              </a:rPr>
              <a:t>Sulit memulai eksplorasi</a:t>
            </a:r>
            <a:endParaRPr sz="1600" b="1">
              <a:solidFill>
                <a:srgbClr val="1B273A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6968" y="4572000"/>
            <a:ext cx="4818888" cy="5394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17085"/>
                </a:solidFill>
                <a:latin typeface="Aptos"/>
              </a:rPr>
              <a:t>Siswa mungkin belum tahu bidang atau program studi apa yang perlu ditelusuri lebih dulu.</a:t>
            </a:r>
            <a:endParaRPr sz="1250" b="0">
              <a:solidFill>
                <a:srgbClr val="617085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199632" y="3822191"/>
            <a:ext cx="52578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9632" y="3822191"/>
            <a:ext cx="64008" cy="1417320"/>
          </a:xfrm>
          <a:prstGeom prst="rect">
            <a:avLst/>
          </a:prstGeom>
          <a:solidFill>
            <a:srgbClr val="1C99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28232" y="4032504"/>
            <a:ext cx="365760" cy="365760"/>
          </a:xfrm>
          <a:prstGeom prst="ellipse">
            <a:avLst/>
          </a:prstGeom>
          <a:solidFill>
            <a:srgbClr val="1C99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8232" y="4050791"/>
            <a:ext cx="36576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31152" y="4023359"/>
            <a:ext cx="43434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73A"/>
                </a:solidFill>
                <a:latin typeface="Aptos"/>
              </a:rPr>
              <a:t>Belum ada alat bantu berbasis profil</a:t>
            </a:r>
            <a:endParaRPr sz="1600" b="1">
              <a:solidFill>
                <a:srgbClr val="1B273A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28232" y="4572000"/>
            <a:ext cx="4818888" cy="5394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17085"/>
                </a:solidFill>
                <a:latin typeface="Aptos"/>
              </a:rPr>
              <a:t>Diperlukan prototipe sederhana untuk mengolah data secara konsisten dan transparan.</a:t>
            </a:r>
            <a:endParaRPr sz="1250" b="0">
              <a:solidFill>
                <a:srgbClr val="617085"/>
              </a:solidFill>
              <a:latin typeface="Apto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58368" y="5577840"/>
            <a:ext cx="10789920" cy="484632"/>
          </a:xfrm>
          <a:prstGeom prst="roundRect">
            <a:avLst>
              <a:gd name="adj" fmla="val 12000"/>
            </a:avLst>
          </a:prstGeom>
          <a:solidFill>
            <a:srgbClr val="FFF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7824" y="5687568"/>
            <a:ext cx="10287000" cy="2468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E5210"/>
                </a:solidFill>
                <a:latin typeface="Aptos"/>
              </a:rPr>
              <a:t>Hipotesis permasalahan awal ? validasi melalui wawancara/observasi dengan siswa dan guru BK.</a:t>
            </a:r>
            <a:endParaRPr sz="1000" b="1">
              <a:solidFill>
                <a:srgbClr val="7E5210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19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77724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D0CD"/>
                </a:solidFill>
                <a:latin typeface="Aptos"/>
              </a:rPr>
              <a:t>FOKUS YANG INGIN DIJAWAB</a:t>
            </a:r>
            <a:endParaRPr sz="1000" b="1">
              <a:solidFill>
                <a:srgbClr val="3ED0CD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Aptos"/>
              </a:rPr>
              <a:t>Rumusan Masalah</a:t>
            </a:r>
            <a:endParaRPr sz="2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" y="1335024"/>
            <a:ext cx="658368" cy="50292"/>
          </a:xfrm>
          <a:prstGeom prst="rect">
            <a:avLst/>
          </a:prstGeom>
          <a:solidFill>
            <a:srgbClr val="3ED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8686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B3C2D8"/>
                </a:solidFill>
                <a:latin typeface="Aptos"/>
              </a:rPr>
              <a:t>PRODIPATH  ?  RENCANA PROYEK AKHIR</a:t>
            </a:r>
            <a:endParaRPr sz="800" b="1">
              <a:solidFill>
                <a:srgbClr val="B3C2D8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45952" y="6473952"/>
            <a:ext cx="5029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3C2D8"/>
                </a:solidFill>
                <a:latin typeface="Aptos"/>
              </a:rPr>
              <a:t>04</a:t>
            </a:r>
            <a:endParaRPr sz="1000" b="1">
              <a:solidFill>
                <a:srgbClr val="B3C2D8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10716768" cy="987552"/>
          </a:xfrm>
          <a:prstGeom prst="roundRect">
            <a:avLst>
              <a:gd name="adj" fmla="val 12000"/>
            </a:avLst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7552" y="1984248"/>
            <a:ext cx="438912" cy="438912"/>
          </a:xfrm>
          <a:prstGeom prst="ellipse">
            <a:avLst/>
          </a:prstGeom>
          <a:solidFill>
            <a:srgbClr val="2D6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2011679"/>
            <a:ext cx="438912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01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64208" y="1929384"/>
            <a:ext cx="928116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Bagaimana merancang website yang membantu siswa kelas XII mengeksplorasi program studi berdasarkan profil dirinya?</a:t>
            </a:r>
            <a:endParaRPr sz="1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13232" y="2999232"/>
            <a:ext cx="10716768" cy="987552"/>
          </a:xfrm>
          <a:prstGeom prst="roundRect">
            <a:avLst>
              <a:gd name="adj" fmla="val 12000"/>
            </a:avLst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7552" y="3246120"/>
            <a:ext cx="438912" cy="438912"/>
          </a:xfrm>
          <a:prstGeom prst="ellipse">
            <a:avLst/>
          </a:prstGeom>
          <a:solidFill>
            <a:srgbClr val="2D6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273551"/>
            <a:ext cx="438912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02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64208" y="3191256"/>
            <a:ext cx="928116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Bagaimana mengolah nilai akademik, peminatan SMA, minat, dan kemampuan analitis menjadi rekomendasi jurusan awal?</a:t>
            </a:r>
            <a:endParaRPr sz="17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713232" y="4261104"/>
            <a:ext cx="10716768" cy="987552"/>
          </a:xfrm>
          <a:prstGeom prst="roundRect">
            <a:avLst>
              <a:gd name="adj" fmla="val 12000"/>
            </a:avLst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87552" y="4507992"/>
            <a:ext cx="438912" cy="438912"/>
          </a:xfrm>
          <a:prstGeom prst="ellipse">
            <a:avLst/>
          </a:prstGeom>
          <a:solidFill>
            <a:srgbClr val="1C99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4535424"/>
            <a:ext cx="438912" cy="32004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03</a:t>
            </a:r>
            <a:endParaRPr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664208" y="4453128"/>
            <a:ext cx="9281160" cy="621792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Aptos"/>
              </a:rPr>
              <a:t>Bagaimana menyediakan pengelolaan dataset agar data rujukan rekomendasi dapat diperbarui dan ditinjau?</a:t>
            </a:r>
            <a:endParaRPr sz="1700" b="1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77724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D6AE6"/>
                </a:solidFill>
                <a:latin typeface="Aptos"/>
              </a:rPr>
              <a:t>HASIL YANG INGIN DICAPAI</a:t>
            </a:r>
            <a:endParaRPr sz="1000" b="1">
              <a:solidFill>
                <a:srgbClr val="2D6AE6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273A"/>
                </a:solidFill>
                <a:latin typeface="Aptos"/>
              </a:rPr>
              <a:t>Tujuan Proyek</a:t>
            </a:r>
            <a:endParaRPr sz="2700" b="1">
              <a:solidFill>
                <a:srgbClr val="1B273A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" y="1335024"/>
            <a:ext cx="658368" cy="50292"/>
          </a:xfrm>
          <a:prstGeom prst="rect">
            <a:avLst/>
          </a:prstGeom>
          <a:solidFill>
            <a:srgbClr val="2D6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8686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17085"/>
                </a:solidFill>
                <a:latin typeface="Aptos"/>
              </a:rPr>
              <a:t>PRODIPATH  ?  RENCANA PROYEK AKHIR</a:t>
            </a:r>
            <a:endParaRPr sz="800" b="1">
              <a:solidFill>
                <a:srgbClr val="617085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45952" y="6473952"/>
            <a:ext cx="5029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17085"/>
                </a:solidFill>
                <a:latin typeface="Aptos"/>
              </a:rPr>
              <a:t>05</a:t>
            </a:r>
            <a:endParaRPr sz="1000" b="1">
              <a:solidFill>
                <a:srgbClr val="617085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6984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B273A"/>
                </a:solidFill>
                <a:latin typeface="Aptos"/>
              </a:rPr>
              <a:t>Menghasilkan prototipe yang dapat mendukung tahap awal eksplorasi pilihan studi.</a:t>
            </a:r>
            <a:endParaRPr sz="1800" b="1">
              <a:solidFill>
                <a:srgbClr val="1B273A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2423160"/>
            <a:ext cx="5230368" cy="13075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423160"/>
            <a:ext cx="64008" cy="1307592"/>
          </a:xfrm>
          <a:prstGeom prst="rect">
            <a:avLst/>
          </a:prstGeom>
          <a:solidFill>
            <a:srgbClr val="2D6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86968" y="2633472"/>
            <a:ext cx="365760" cy="365760"/>
          </a:xfrm>
          <a:prstGeom prst="ellipse">
            <a:avLst/>
          </a:prstGeom>
          <a:solidFill>
            <a:srgbClr val="2D6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651760"/>
            <a:ext cx="36576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89888" y="2624328"/>
            <a:ext cx="4315968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73A"/>
                </a:solidFill>
                <a:latin typeface="Aptos"/>
              </a:rPr>
              <a:t>Membangun antarmuka siswa</a:t>
            </a:r>
            <a:endParaRPr sz="1600" b="1">
              <a:solidFill>
                <a:srgbClr val="1B273A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86968" y="3172968"/>
            <a:ext cx="4791456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17085"/>
                </a:solidFill>
                <a:latin typeface="Aptos"/>
              </a:rPr>
              <a:t>Form profil akademik dan minat yang mudah diisi.</a:t>
            </a:r>
            <a:endParaRPr sz="1250" b="0">
              <a:solidFill>
                <a:srgbClr val="617085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90488" y="2423160"/>
            <a:ext cx="5230368" cy="13075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2423160"/>
            <a:ext cx="64008" cy="1307592"/>
          </a:xfrm>
          <a:prstGeom prst="rect">
            <a:avLst/>
          </a:prstGeom>
          <a:solidFill>
            <a:srgbClr val="3ED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19088" y="2633472"/>
            <a:ext cx="365760" cy="365760"/>
          </a:xfrm>
          <a:prstGeom prst="ellipse">
            <a:avLst/>
          </a:prstGeom>
          <a:solidFill>
            <a:srgbClr val="3ED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651760"/>
            <a:ext cx="36576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922007" y="2624328"/>
            <a:ext cx="4315968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73A"/>
                </a:solidFill>
                <a:latin typeface="Aptos"/>
              </a:rPr>
              <a:t>Menerapkan klasifikasi</a:t>
            </a:r>
            <a:endParaRPr sz="1600" b="1">
              <a:solidFill>
                <a:srgbClr val="1B273A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19088" y="3172968"/>
            <a:ext cx="4791456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17085"/>
                </a:solidFill>
                <a:latin typeface="Aptos"/>
              </a:rPr>
              <a:t>Model Decision Tree mengolah data profil dan label jurusan pada dataset.</a:t>
            </a:r>
            <a:endParaRPr sz="1250" b="0">
              <a:solidFill>
                <a:srgbClr val="617085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58368" y="3995928"/>
            <a:ext cx="5230368" cy="13075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995928"/>
            <a:ext cx="64008" cy="1307592"/>
          </a:xfrm>
          <a:prstGeom prst="rect">
            <a:avLst/>
          </a:prstGeom>
          <a:solidFill>
            <a:srgbClr val="F8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86968" y="4206240"/>
            <a:ext cx="365760" cy="365760"/>
          </a:xfrm>
          <a:prstGeom prst="ellipse">
            <a:avLst/>
          </a:prstGeom>
          <a:solidFill>
            <a:srgbClr val="F8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4224528"/>
            <a:ext cx="36576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389888" y="4197096"/>
            <a:ext cx="4315968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73A"/>
                </a:solidFill>
                <a:latin typeface="Aptos"/>
              </a:rPr>
              <a:t>Menyajikan rekomendasi awal</a:t>
            </a:r>
            <a:endParaRPr sz="1600" b="1">
              <a:solidFill>
                <a:srgbClr val="1B273A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6968" y="4745736"/>
            <a:ext cx="4791456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17085"/>
                </a:solidFill>
                <a:latin typeface="Aptos"/>
              </a:rPr>
              <a:t>Hasil mudah dibaca, dengan batasan sistem dijelaskan kepada pengguna.</a:t>
            </a:r>
            <a:endParaRPr sz="1250" b="0">
              <a:solidFill>
                <a:srgbClr val="617085"/>
              </a:solidFill>
              <a:latin typeface="Apto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190488" y="3995928"/>
            <a:ext cx="5230368" cy="13075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90488" y="3995928"/>
            <a:ext cx="64008" cy="1307592"/>
          </a:xfrm>
          <a:prstGeom prst="rect">
            <a:avLst/>
          </a:prstGeom>
          <a:solidFill>
            <a:srgbClr val="1C99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19088" y="4206240"/>
            <a:ext cx="365760" cy="365760"/>
          </a:xfrm>
          <a:prstGeom prst="ellipse">
            <a:avLst/>
          </a:prstGeom>
          <a:solidFill>
            <a:srgbClr val="1C99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9088" y="4224528"/>
            <a:ext cx="36576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4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22007" y="4197096"/>
            <a:ext cx="4315968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73A"/>
                </a:solidFill>
                <a:latin typeface="Aptos"/>
              </a:rPr>
              <a:t>Menyediakan panel pengelola</a:t>
            </a:r>
            <a:endParaRPr sz="1600" b="1">
              <a:solidFill>
                <a:srgbClr val="1B273A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19088" y="4745736"/>
            <a:ext cx="4791456" cy="4297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17085"/>
                </a:solidFill>
                <a:latin typeface="Aptos"/>
              </a:rPr>
              <a:t>Impor dan pencarian data serta ringkasan dataset untuk admin.</a:t>
            </a:r>
            <a:endParaRPr sz="1250" b="0">
              <a:solidFill>
                <a:srgbClr val="617085"/>
              </a:solidFill>
              <a:latin typeface="Aptos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58368" y="5650992"/>
            <a:ext cx="10789920" cy="438912"/>
          </a:xfrm>
          <a:prstGeom prst="roundRect">
            <a:avLst>
              <a:gd name="adj" fmla="val 12000"/>
            </a:avLst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742432"/>
            <a:ext cx="1024128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Ukuran keberhasilan prototipe: alur utama berfungsi dan dapat diuji skenario black-box bersama calon pengguna.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77724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D6AE6"/>
                </a:solidFill>
                <a:latin typeface="Aptos"/>
              </a:rPr>
              <a:t>NILAI BAGI PARA PIHAK</a:t>
            </a:r>
            <a:endParaRPr sz="1000" b="1">
              <a:solidFill>
                <a:srgbClr val="2D6AE6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273A"/>
                </a:solidFill>
                <a:latin typeface="Aptos"/>
              </a:rPr>
              <a:t>Manfaat Proyek</a:t>
            </a:r>
            <a:endParaRPr sz="2700" b="1">
              <a:solidFill>
                <a:srgbClr val="1B273A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" y="1335024"/>
            <a:ext cx="658368" cy="50292"/>
          </a:xfrm>
          <a:prstGeom prst="rect">
            <a:avLst/>
          </a:prstGeom>
          <a:solidFill>
            <a:srgbClr val="2D6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8686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17085"/>
                </a:solidFill>
                <a:latin typeface="Aptos"/>
              </a:rPr>
              <a:t>PRODIPATH  ?  RENCANA PROYEK AKHIR</a:t>
            </a:r>
            <a:endParaRPr sz="800" b="1">
              <a:solidFill>
                <a:srgbClr val="617085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45952" y="6473952"/>
            <a:ext cx="5029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17085"/>
                </a:solidFill>
                <a:latin typeface="Aptos"/>
              </a:rPr>
              <a:t>06</a:t>
            </a:r>
            <a:endParaRPr sz="1000" b="1">
              <a:solidFill>
                <a:srgbClr val="617085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1828800"/>
            <a:ext cx="3456432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828800"/>
            <a:ext cx="64008" cy="3246120"/>
          </a:xfrm>
          <a:prstGeom prst="rect">
            <a:avLst/>
          </a:prstGeom>
          <a:solidFill>
            <a:srgbClr val="2D6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29968"/>
            <a:ext cx="3044951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73A"/>
                </a:solidFill>
                <a:latin typeface="Aptos"/>
              </a:rPr>
              <a:t>Bagi siswa</a:t>
            </a:r>
            <a:endParaRPr sz="1600" b="1">
              <a:solidFill>
                <a:srgbClr val="1B273A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6968" y="2578608"/>
            <a:ext cx="3017520" cy="23682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17085"/>
                </a:solidFill>
                <a:latin typeface="Aptos"/>
              </a:rPr>
              <a:t>? Memulai eksplorasi jurusan dengan profil diri.
? Melihat rekomendasi sebagai bahan diskusi.
? Mengingatkan bahwa pilihan akhir tetap milik siswa.</a:t>
            </a:r>
            <a:endParaRPr sz="1250" b="0">
              <a:solidFill>
                <a:srgbClr val="617085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70832" y="1828800"/>
            <a:ext cx="3456432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828800"/>
            <a:ext cx="64008" cy="3246120"/>
          </a:xfrm>
          <a:prstGeom prst="rect">
            <a:avLst/>
          </a:prstGeom>
          <a:solidFill>
            <a:srgbClr val="3ED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2" y="2029968"/>
            <a:ext cx="3044951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73A"/>
                </a:solidFill>
                <a:latin typeface="Aptos"/>
              </a:rPr>
              <a:t>Bagi mitra / guru BK</a:t>
            </a:r>
            <a:endParaRPr sz="1600" b="1">
              <a:solidFill>
                <a:srgbClr val="1B273A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99432" y="2578608"/>
            <a:ext cx="3017520" cy="23682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17085"/>
                </a:solidFill>
                <a:latin typeface="Aptos"/>
              </a:rPr>
              <a:t>? Mendapat prototipe media eksplorasi awal.
? Memudahkan diskusi terarah tentang nilai dan minat.
? Dataset dapat ditinjau serta diperbarui pengelola.</a:t>
            </a:r>
            <a:endParaRPr sz="1250" b="0">
              <a:solidFill>
                <a:srgbClr val="617085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083296" y="1828800"/>
            <a:ext cx="3456432" cy="3246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83296" y="1828800"/>
            <a:ext cx="64008" cy="3246120"/>
          </a:xfrm>
          <a:prstGeom prst="rect">
            <a:avLst/>
          </a:prstGeom>
          <a:solidFill>
            <a:srgbClr val="F8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2029968"/>
            <a:ext cx="3044951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73A"/>
                </a:solidFill>
                <a:latin typeface="Aptos"/>
              </a:rPr>
              <a:t>Bagi tim pengembang</a:t>
            </a:r>
            <a:endParaRPr sz="1600" b="1">
              <a:solidFill>
                <a:srgbClr val="1B273A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11896" y="2578608"/>
            <a:ext cx="3017520" cy="23682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17085"/>
                </a:solidFill>
                <a:latin typeface="Aptos"/>
              </a:rPr>
              <a:t>? Menerapkan rekayasa perangkat lunak end-to-end.
? Berlatih mengolah data dan mengevaluasi model.
? Menguji kebutuhan pengguna secara terstruktur.</a:t>
            </a:r>
            <a:endParaRPr sz="1250" b="0">
              <a:solidFill>
                <a:srgbClr val="617085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3232" y="5413248"/>
            <a:ext cx="1069848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17085"/>
                </a:solidFill>
                <a:latin typeface="Aptos"/>
              </a:rPr>
              <a:t>Manfaat tersebut merupakan sasaran yang akan dinilai melalui uji fungsi dan umpan balik pengguna.</a:t>
            </a:r>
            <a:endParaRPr sz="1100" b="0">
              <a:solidFill>
                <a:srgbClr val="61708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77724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D6AE6"/>
                </a:solidFill>
                <a:latin typeface="Aptos"/>
              </a:rPr>
              <a:t>SIAPA YANG DILAYANI</a:t>
            </a:r>
            <a:endParaRPr sz="1000" b="1">
              <a:solidFill>
                <a:srgbClr val="2D6AE6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273A"/>
                </a:solidFill>
                <a:latin typeface="Aptos"/>
              </a:rPr>
              <a:t>Profil Mitra dan Pengguna</a:t>
            </a:r>
            <a:endParaRPr sz="2700" b="1">
              <a:solidFill>
                <a:srgbClr val="1B273A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" y="1335024"/>
            <a:ext cx="658368" cy="50292"/>
          </a:xfrm>
          <a:prstGeom prst="rect">
            <a:avLst/>
          </a:prstGeom>
          <a:solidFill>
            <a:srgbClr val="2D6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8686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17085"/>
                </a:solidFill>
                <a:latin typeface="Aptos"/>
              </a:rPr>
              <a:t>PRODIPATH  ?  RENCANA PROYEK AKHIR</a:t>
            </a:r>
            <a:endParaRPr sz="800" b="1">
              <a:solidFill>
                <a:srgbClr val="617085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45952" y="6473952"/>
            <a:ext cx="5029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17085"/>
                </a:solidFill>
                <a:latin typeface="Aptos"/>
              </a:rPr>
              <a:t>07</a:t>
            </a:r>
            <a:endParaRPr sz="1000" b="1">
              <a:solidFill>
                <a:srgbClr val="617085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1709928"/>
            <a:ext cx="3749039" cy="4251960"/>
          </a:xfrm>
          <a:prstGeom prst="roundRect">
            <a:avLst>
              <a:gd name="adj" fmla="val 12000"/>
            </a:avLst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011680"/>
            <a:ext cx="31546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D0CD"/>
                </a:solidFill>
                <a:latin typeface="Aptos"/>
              </a:rPr>
              <a:t>MITRA</a:t>
            </a:r>
            <a:endParaRPr sz="1000" b="1">
              <a:solidFill>
                <a:srgbClr val="3ED0CD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50976" y="2468880"/>
            <a:ext cx="3154680" cy="74295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2300" b="1">
                <a:solidFill>
                  <a:srgbClr val="FFFFFF"/>
                </a:solidFill>
                <a:latin typeface="Aptos"/>
              </a:rPr>
              <a:t>SMA Muhamadiyah 2 Bandar Lampung</a:t>
            </a:r>
            <a:endParaRPr lang="en-US" sz="2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50976" y="3346704"/>
            <a:ext cx="3063240" cy="12984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2D0E2"/>
                </a:solidFill>
                <a:latin typeface="Aptos"/>
              </a:rPr>
              <a:t>Profil mitra, kebutuhan spesifik, serta narahubung akan dilengkapi setelah tim menetapkan dan melakukan konfirmasi kepada mitra.</a:t>
            </a:r>
            <a:endParaRPr sz="1300" b="0">
              <a:solidFill>
                <a:srgbClr val="C2D0E2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50976" y="5029200"/>
            <a:ext cx="3127248" cy="566928"/>
          </a:xfrm>
          <a:prstGeom prst="roundRect">
            <a:avLst>
              <a:gd name="adj" fmla="val 12000"/>
            </a:avLst>
          </a:prstGeom>
          <a:solidFill>
            <a:srgbClr val="162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8136" y="5157216"/>
            <a:ext cx="2834640" cy="20447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Lokasi: </a:t>
            </a:r>
            <a:r>
              <a:rPr lang="en-US" sz="1100" b="1">
                <a:solidFill>
                  <a:srgbClr val="FFFFFF"/>
                </a:solidFill>
                <a:latin typeface="Aptos"/>
              </a:rPr>
              <a:t>Bandar Lampung</a:t>
            </a:r>
            <a:endParaRPr lang="en-US" sz="11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736592" y="1709928"/>
            <a:ext cx="310896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36592" y="1709928"/>
            <a:ext cx="64008" cy="1874519"/>
          </a:xfrm>
          <a:prstGeom prst="rect">
            <a:avLst/>
          </a:prstGeom>
          <a:solidFill>
            <a:srgbClr val="2D6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965192" y="1920240"/>
            <a:ext cx="365760" cy="365760"/>
          </a:xfrm>
          <a:prstGeom prst="ellipse">
            <a:avLst/>
          </a:prstGeom>
          <a:solidFill>
            <a:srgbClr val="2D6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65192" y="1938528"/>
            <a:ext cx="36576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1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68112" y="1911096"/>
            <a:ext cx="219456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73A"/>
                </a:solidFill>
                <a:latin typeface="Aptos"/>
              </a:rPr>
              <a:t>Pengguna utama</a:t>
            </a:r>
            <a:endParaRPr sz="1600" b="1">
              <a:solidFill>
                <a:srgbClr val="1B273A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965192" y="2459736"/>
            <a:ext cx="2670048" cy="9966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17085"/>
                </a:solidFill>
                <a:latin typeface="Aptos"/>
              </a:rPr>
              <a:t>Siswa kelas XII SMA/MA/SMK yang sedang mengeksplorasi jurusan kuliah.</a:t>
            </a:r>
            <a:endParaRPr sz="1250" b="0">
              <a:solidFill>
                <a:srgbClr val="617085"/>
              </a:solidFill>
              <a:latin typeface="Apto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074152" y="1709928"/>
            <a:ext cx="338328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4152" y="1709928"/>
            <a:ext cx="64008" cy="1874519"/>
          </a:xfrm>
          <a:prstGeom prst="rect">
            <a:avLst/>
          </a:prstGeom>
          <a:solidFill>
            <a:srgbClr val="3ED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02752" y="1920240"/>
            <a:ext cx="365760" cy="365760"/>
          </a:xfrm>
          <a:prstGeom prst="ellipse">
            <a:avLst/>
          </a:prstGeom>
          <a:solidFill>
            <a:srgbClr val="3ED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1938528"/>
            <a:ext cx="36576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2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05672" y="1911096"/>
            <a:ext cx="2468879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73A"/>
                </a:solidFill>
                <a:latin typeface="Aptos"/>
              </a:rPr>
              <a:t>Pengguna pendamping</a:t>
            </a:r>
            <a:endParaRPr sz="1600" b="1">
              <a:solidFill>
                <a:srgbClr val="1B273A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02752" y="2459736"/>
            <a:ext cx="2944368" cy="9966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17085"/>
                </a:solidFill>
                <a:latin typeface="Aptos"/>
              </a:rPr>
              <a:t>Guru BK/konselor dan orang tua sebagai rekan diskusi pilihan studi.</a:t>
            </a:r>
            <a:endParaRPr sz="1250" b="0">
              <a:solidFill>
                <a:srgbClr val="617085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4736592" y="3840480"/>
            <a:ext cx="672084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36592" y="3840480"/>
            <a:ext cx="64008" cy="1874519"/>
          </a:xfrm>
          <a:prstGeom prst="rect">
            <a:avLst/>
          </a:prstGeom>
          <a:solidFill>
            <a:srgbClr val="F8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965192" y="4050792"/>
            <a:ext cx="365760" cy="365760"/>
          </a:xfrm>
          <a:prstGeom prst="ellipse">
            <a:avLst/>
          </a:prstGeom>
          <a:solidFill>
            <a:srgbClr val="F8B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65192" y="4069080"/>
            <a:ext cx="365760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3</a:t>
            </a:r>
            <a:endParaRPr sz="1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468112" y="4041648"/>
            <a:ext cx="580644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73A"/>
                </a:solidFill>
                <a:latin typeface="Aptos"/>
              </a:rPr>
              <a:t>Pengelola sistem</a:t>
            </a:r>
            <a:endParaRPr sz="1600" b="1">
              <a:solidFill>
                <a:srgbClr val="1B273A"/>
              </a:solidFill>
              <a:latin typeface="Apto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965192" y="4590288"/>
            <a:ext cx="6281927" cy="99669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17085"/>
                </a:solidFill>
                <a:latin typeface="Aptos"/>
              </a:rPr>
              <a:t>Admin/tim sekolah yang mengelola data rujukan dan meninjau ringkasan dataset. Akses admin dibatasi untuk menjaga tata kelola data.</a:t>
            </a:r>
            <a:endParaRPr sz="1250" b="0">
              <a:solidFill>
                <a:srgbClr val="617085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77724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D6AE6"/>
                </a:solidFill>
                <a:latin typeface="Aptos"/>
              </a:rPr>
              <a:t>CARA KERJA PRODIPATH</a:t>
            </a:r>
            <a:endParaRPr sz="1000" b="1">
              <a:solidFill>
                <a:srgbClr val="2D6AE6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273A"/>
                </a:solidFill>
                <a:latin typeface="Aptos"/>
              </a:rPr>
              <a:t>Solusi yang Diusulkan</a:t>
            </a:r>
            <a:endParaRPr sz="2700" b="1">
              <a:solidFill>
                <a:srgbClr val="1B273A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" y="1335024"/>
            <a:ext cx="658368" cy="50292"/>
          </a:xfrm>
          <a:prstGeom prst="rect">
            <a:avLst/>
          </a:prstGeom>
          <a:solidFill>
            <a:srgbClr val="2D6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8686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17085"/>
                </a:solidFill>
                <a:latin typeface="Aptos"/>
              </a:rPr>
              <a:t>PRODIPATH  ?  RENCANA PROYEK AKHIR</a:t>
            </a:r>
            <a:endParaRPr sz="800" b="1">
              <a:solidFill>
                <a:srgbClr val="617085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45952" y="6473952"/>
            <a:ext cx="5029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17085"/>
                </a:solidFill>
                <a:latin typeface="Aptos"/>
              </a:rPr>
              <a:t>08</a:t>
            </a:r>
            <a:endParaRPr sz="1000" b="1">
              <a:solidFill>
                <a:srgbClr val="617085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78992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17085"/>
                </a:solidFill>
                <a:latin typeface="Aptos"/>
              </a:rPr>
              <a:t>Website rekomendasi awal dengan dua alur: eksplorasi siswa dan pengelolaan dataset oleh admin.</a:t>
            </a:r>
            <a:endParaRPr sz="1500" b="0">
              <a:solidFill>
                <a:srgbClr val="617085"/>
              </a:solidFill>
              <a:latin typeface="Apto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2331720"/>
            <a:ext cx="3246120" cy="20299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2578608"/>
            <a:ext cx="475488" cy="475488"/>
          </a:xfrm>
          <a:prstGeom prst="ellipse">
            <a:avLst/>
          </a:prstGeom>
          <a:solidFill>
            <a:srgbClr val="2D6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633472"/>
            <a:ext cx="475488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  <a:endParaRPr sz="1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90472" y="2615184"/>
            <a:ext cx="2157984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273A"/>
                </a:solidFill>
                <a:latin typeface="Aptos"/>
              </a:rPr>
              <a:t>Profil siswa</a:t>
            </a:r>
            <a:endParaRPr sz="1700" b="1">
              <a:solidFill>
                <a:srgbClr val="1B273A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6112" y="3264408"/>
            <a:ext cx="2761488" cy="8046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17085"/>
                </a:solidFill>
                <a:latin typeface="Aptos"/>
              </a:rPr>
              <a:t>Peminatan SMA, nilai 4 mapel, minat 3 bidang, kemampuan analitis.</a:t>
            </a:r>
            <a:endParaRPr sz="1200" b="0">
              <a:solidFill>
                <a:srgbClr val="617085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41063" y="3017520"/>
            <a:ext cx="3657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D6AE6"/>
                </a:solidFill>
                <a:latin typeface="Aptos"/>
              </a:rPr>
              <a:t>?</a:t>
            </a:r>
            <a:endParaRPr sz="2400" b="1">
              <a:solidFill>
                <a:srgbClr val="2D6AE6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61688" y="2331720"/>
            <a:ext cx="3246120" cy="20299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81144" y="2578608"/>
            <a:ext cx="475488" cy="475488"/>
          </a:xfrm>
          <a:prstGeom prst="ellipse">
            <a:avLst/>
          </a:prstGeom>
          <a:solidFill>
            <a:srgbClr val="3ED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633472"/>
            <a:ext cx="475488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  <a:endParaRPr sz="1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93792" y="2615184"/>
            <a:ext cx="2157984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273A"/>
                </a:solidFill>
                <a:latin typeface="Aptos"/>
              </a:rPr>
              <a:t>Pengolahan</a:t>
            </a:r>
            <a:endParaRPr sz="1700" b="1">
              <a:solidFill>
                <a:srgbClr val="1B273A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99431" y="3264408"/>
            <a:ext cx="2761488" cy="8046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17085"/>
                </a:solidFill>
                <a:latin typeface="Aptos"/>
              </a:rPr>
              <a:t>Pipeline menyiapkan fitur; Decision Tree memetakan pola dari label jurusan.</a:t>
            </a:r>
            <a:endParaRPr sz="1200" b="0">
              <a:solidFill>
                <a:srgbClr val="617085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44383" y="3017520"/>
            <a:ext cx="365760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2D6AE6"/>
                </a:solidFill>
                <a:latin typeface="Aptos"/>
              </a:rPr>
              <a:t>?</a:t>
            </a:r>
            <a:endParaRPr sz="2400" b="1">
              <a:solidFill>
                <a:srgbClr val="2D6AE6"/>
              </a:solidFill>
              <a:latin typeface="Aptos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065008" y="2331720"/>
            <a:ext cx="3246120" cy="20299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84464" y="2578608"/>
            <a:ext cx="475488" cy="475488"/>
          </a:xfrm>
          <a:prstGeom prst="ellipse">
            <a:avLst/>
          </a:prstGeom>
          <a:solidFill>
            <a:srgbClr val="1C99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84464" y="2633472"/>
            <a:ext cx="475488" cy="29260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  <a:endParaRPr sz="13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97112" y="2615184"/>
            <a:ext cx="2157984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273A"/>
                </a:solidFill>
                <a:latin typeface="Aptos"/>
              </a:rPr>
              <a:t>Hasil</a:t>
            </a:r>
            <a:endParaRPr sz="1700" b="1">
              <a:solidFill>
                <a:srgbClr val="1B273A"/>
              </a:solidFill>
              <a:latin typeface="Apto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302752" y="3264408"/>
            <a:ext cx="2761488" cy="8046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17085"/>
                </a:solidFill>
                <a:latin typeface="Aptos"/>
              </a:rPr>
              <a:t>Tampilkan satu rekomendasi awal beserta pesan keterbatasan model.</a:t>
            </a:r>
            <a:endParaRPr sz="1200" b="0">
              <a:solidFill>
                <a:srgbClr val="617085"/>
              </a:solidFill>
              <a:latin typeface="Aptos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658368" y="4663440"/>
            <a:ext cx="10789920" cy="1188720"/>
          </a:xfrm>
          <a:prstGeom prst="roundRect">
            <a:avLst>
              <a:gd name="adj" fmla="val 12000"/>
            </a:avLst>
          </a:prstGeom>
          <a:solidFill>
            <a:srgbClr val="E2EE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4855464"/>
            <a:ext cx="192024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D6AE6"/>
                </a:solidFill>
                <a:latin typeface="Aptos"/>
              </a:rPr>
              <a:t>TEKNOLOGI</a:t>
            </a:r>
            <a:endParaRPr sz="1000" b="1">
              <a:solidFill>
                <a:srgbClr val="2D6AE6"/>
              </a:solidFill>
              <a:latin typeface="Apto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32688" y="5212080"/>
            <a:ext cx="10012680" cy="3840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273A"/>
                </a:solidFill>
                <a:latin typeface="Aptos"/>
              </a:rPr>
              <a:t>React + Vite  /  FastAPI + Python  /  scikit-learn (Decision Tree)  /  MySQL</a:t>
            </a:r>
            <a:endParaRPr sz="1400" b="1">
              <a:solidFill>
                <a:srgbClr val="1B273A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85800" y="6016752"/>
            <a:ext cx="106984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95913"/>
                </a:solidFill>
                <a:latin typeface="Aptos"/>
              </a:rPr>
              <a:t>Data contoh saat ini hanya 25 baris; perlu diperluas dan dievaluasi sebelum rekomendasi digunakan sebagai rujukan nyata.</a:t>
            </a:r>
            <a:endParaRPr sz="1000" b="1">
              <a:solidFill>
                <a:srgbClr val="895913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77724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D6AE6"/>
                </a:solidFill>
                <a:latin typeface="Aptos"/>
              </a:rPr>
              <a:t>RUANG LINGKUP PROTOTIPE</a:t>
            </a:r>
            <a:endParaRPr sz="1000" b="1">
              <a:solidFill>
                <a:srgbClr val="2D6AE6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273A"/>
                </a:solidFill>
                <a:latin typeface="Aptos"/>
              </a:rPr>
              <a:t>Daftar Fitur</a:t>
            </a:r>
            <a:endParaRPr sz="2700" b="1">
              <a:solidFill>
                <a:srgbClr val="1B273A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" y="1335024"/>
            <a:ext cx="658368" cy="50292"/>
          </a:xfrm>
          <a:prstGeom prst="rect">
            <a:avLst/>
          </a:prstGeom>
          <a:solidFill>
            <a:srgbClr val="2D6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8686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17085"/>
                </a:solidFill>
                <a:latin typeface="Aptos"/>
              </a:rPr>
              <a:t>PRODIPATH  ?  RENCANA PROYEK AKHIR</a:t>
            </a:r>
            <a:endParaRPr sz="800" b="1">
              <a:solidFill>
                <a:srgbClr val="617085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45952" y="6473952"/>
            <a:ext cx="5029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17085"/>
                </a:solidFill>
                <a:latin typeface="Aptos"/>
              </a:rPr>
              <a:t>09</a:t>
            </a:r>
            <a:endParaRPr sz="1000" b="1">
              <a:solidFill>
                <a:srgbClr val="617085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5266944" cy="3584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755648"/>
            <a:ext cx="64008" cy="3584448"/>
          </a:xfrm>
          <a:prstGeom prst="rect">
            <a:avLst/>
          </a:prstGeom>
          <a:solidFill>
            <a:srgbClr val="2D6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956816"/>
            <a:ext cx="4855464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73A"/>
                </a:solidFill>
                <a:latin typeface="Aptos"/>
              </a:rPr>
              <a:t>FITUR UNTUK SISWA</a:t>
            </a:r>
            <a:endParaRPr sz="1600" b="1">
              <a:solidFill>
                <a:srgbClr val="1B273A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6968" y="2505456"/>
            <a:ext cx="4828031" cy="2706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17085"/>
                </a:solidFill>
                <a:latin typeface="Aptos"/>
              </a:rPr>
              <a:t>? Halaman pengantar ProdiPath.
? Form peminatan SMA, nilai akademik, minat, dan kemampuan analitis.
? Hasil rekomendasi jurusan awal.
? Informasi bahwa hasil bukan keputusan final.</a:t>
            </a:r>
            <a:endParaRPr sz="1250" b="0">
              <a:solidFill>
                <a:srgbClr val="617085"/>
              </a:solidFill>
              <a:latin typeface="Apto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99632" y="1755648"/>
            <a:ext cx="5266944" cy="35844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1755648"/>
            <a:ext cx="64008" cy="3584448"/>
          </a:xfrm>
          <a:prstGeom prst="rect">
            <a:avLst/>
          </a:prstGeom>
          <a:solidFill>
            <a:srgbClr val="3ED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1956816"/>
            <a:ext cx="4855464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73A"/>
                </a:solidFill>
                <a:latin typeface="Aptos"/>
              </a:rPr>
              <a:t>FITUR PENGELOLA</a:t>
            </a:r>
            <a:endParaRPr sz="1600" b="1">
              <a:solidFill>
                <a:srgbClr val="1B273A"/>
              </a:solidFill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28232" y="2505456"/>
            <a:ext cx="4828031" cy="270662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617085"/>
                </a:solidFill>
                <a:latin typeface="Aptos"/>
              </a:rPr>
              <a:t>? Login administrator.
? Dashboard distribusi jurusan pada dataset.
? Import CSV dengan validasi kolom dan rentang nilai.
? Pencarian dan penghapusan data siswa.</a:t>
            </a:r>
            <a:endParaRPr sz="1250" b="0">
              <a:solidFill>
                <a:srgbClr val="617085"/>
              </a:solidFill>
              <a:latin typeface="Apto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58368" y="5559552"/>
            <a:ext cx="10789920" cy="512064"/>
          </a:xfrm>
          <a:prstGeom prst="roundRect">
            <a:avLst>
              <a:gd name="adj" fmla="val 12000"/>
            </a:avLst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5687568"/>
            <a:ext cx="102870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PENGEMBANGAN LANJUTAN  ?  Validasi bersama mitra  ?  Dataset yang representatif  ?  Evaluasi model  ?  Uji kegunaan</a:t>
            </a:r>
            <a:endParaRPr sz="1000" b="1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777240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D6AE6"/>
                </a:solidFill>
                <a:latin typeface="Aptos"/>
              </a:rPr>
              <a:t>SEBELUM DAN SESUDAH SISTEM</a:t>
            </a:r>
            <a:endParaRPr sz="1000" b="1">
              <a:solidFill>
                <a:srgbClr val="2D6AE6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694944"/>
            <a:ext cx="10972800" cy="53035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273A"/>
                </a:solidFill>
                <a:latin typeface="Aptos"/>
              </a:rPr>
              <a:t>Gambaran Proses Bisnis</a:t>
            </a:r>
            <a:endParaRPr sz="2700" b="1">
              <a:solidFill>
                <a:srgbClr val="1B273A"/>
              </a:solidFill>
              <a:latin typeface="Apto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" y="1335024"/>
            <a:ext cx="658368" cy="50292"/>
          </a:xfrm>
          <a:prstGeom prst="rect">
            <a:avLst/>
          </a:prstGeom>
          <a:solidFill>
            <a:srgbClr val="2D6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6519672"/>
            <a:ext cx="868680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17085"/>
                </a:solidFill>
                <a:latin typeface="Aptos"/>
              </a:rPr>
              <a:t>PRODIPATH  ?  RENCANA PROYEK AKHIR</a:t>
            </a:r>
            <a:endParaRPr sz="800" b="1">
              <a:solidFill>
                <a:srgbClr val="617085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45952" y="6473952"/>
            <a:ext cx="50292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17085"/>
                </a:solidFill>
                <a:latin typeface="Aptos"/>
              </a:rPr>
              <a:t>10</a:t>
            </a:r>
            <a:endParaRPr sz="1000" b="1">
              <a:solidFill>
                <a:srgbClr val="617085"/>
              </a:solidFill>
              <a:latin typeface="Apto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5266944" cy="4297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99632" y="1700784"/>
            <a:ext cx="5266944" cy="4297680"/>
          </a:xfrm>
          <a:prstGeom prst="roundRect">
            <a:avLst>
              <a:gd name="adj" fmla="val 12000"/>
            </a:avLst>
          </a:prstGeom>
          <a:solidFill>
            <a:srgbClr val="0C1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93392"/>
            <a:ext cx="45720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D6AE6"/>
                </a:solidFill>
                <a:latin typeface="Aptos"/>
              </a:rPr>
              <a:t>SEBELUM  /  EKSPLORASI MANUAL</a:t>
            </a:r>
            <a:endParaRPr sz="1300" b="1">
              <a:solidFill>
                <a:srgbClr val="2D6AE6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73952" y="1993392"/>
            <a:ext cx="4572000" cy="31089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ED0CD"/>
                </a:solidFill>
                <a:latin typeface="Aptos"/>
              </a:rPr>
              <a:t>SESUDAH  /  DIBANTU PRODIPATH</a:t>
            </a:r>
            <a:endParaRPr sz="1300" b="1">
              <a:solidFill>
                <a:srgbClr val="3ED0CD"/>
              </a:solidFill>
              <a:latin typeface="Aptos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950976" y="2624328"/>
            <a:ext cx="256032" cy="256032"/>
          </a:xfrm>
          <a:prstGeom prst="ellipse">
            <a:avLst/>
          </a:prstGeom>
          <a:solidFill>
            <a:srgbClr val="2D6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619756"/>
            <a:ext cx="25603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1</a:t>
            </a:r>
            <a:endParaRPr sz="9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53312" y="2587752"/>
            <a:ext cx="4187952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273A"/>
                </a:solidFill>
                <a:latin typeface="Aptos"/>
              </a:rPr>
              <a:t>Siswa menyadari perlu memilih program studi.</a:t>
            </a:r>
            <a:endParaRPr sz="1200" b="0">
              <a:solidFill>
                <a:srgbClr val="1B273A"/>
              </a:solidFill>
              <a:latin typeface="Apto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950976" y="3337560"/>
            <a:ext cx="256032" cy="256032"/>
          </a:xfrm>
          <a:prstGeom prst="ellipse">
            <a:avLst/>
          </a:prstGeom>
          <a:solidFill>
            <a:srgbClr val="2D6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" y="3332988"/>
            <a:ext cx="25603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2</a:t>
            </a:r>
            <a:endParaRPr sz="9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53312" y="3300984"/>
            <a:ext cx="4187952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273A"/>
                </a:solidFill>
                <a:latin typeface="Aptos"/>
              </a:rPr>
              <a:t>Mencari informasi dari berbagai sumber secara terpisah.</a:t>
            </a:r>
            <a:endParaRPr sz="1200" b="0">
              <a:solidFill>
                <a:srgbClr val="1B273A"/>
              </a:solidFill>
              <a:latin typeface="Aptos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50976" y="4050792"/>
            <a:ext cx="256032" cy="256032"/>
          </a:xfrm>
          <a:prstGeom prst="ellipse">
            <a:avLst/>
          </a:prstGeom>
          <a:solidFill>
            <a:srgbClr val="2D6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4046220"/>
            <a:ext cx="25603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3</a:t>
            </a:r>
            <a:endParaRPr sz="9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53312" y="4014216"/>
            <a:ext cx="4187952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273A"/>
                </a:solidFill>
                <a:latin typeface="Aptos"/>
              </a:rPr>
              <a:t>Membandingkan nilai, minat, dan jurusan secara mandiri.</a:t>
            </a:r>
            <a:endParaRPr sz="1200" b="0">
              <a:solidFill>
                <a:srgbClr val="1B273A"/>
              </a:solidFill>
              <a:latin typeface="Aptos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950976" y="4764024"/>
            <a:ext cx="256032" cy="256032"/>
          </a:xfrm>
          <a:prstGeom prst="ellipse">
            <a:avLst/>
          </a:prstGeom>
          <a:solidFill>
            <a:srgbClr val="2D6A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4759452"/>
            <a:ext cx="25603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4</a:t>
            </a:r>
            <a:endParaRPr sz="9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53312" y="4727448"/>
            <a:ext cx="4187952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273A"/>
                </a:solidFill>
                <a:latin typeface="Aptos"/>
              </a:rPr>
              <a:t>Berdiskusi dengan guru BK/keluarga lalu menentukan pilihan.</a:t>
            </a:r>
            <a:endParaRPr sz="1200" b="0">
              <a:solidFill>
                <a:srgbClr val="1B273A"/>
              </a:solidFill>
              <a:latin typeface="Apto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6492240" y="2624328"/>
            <a:ext cx="256032" cy="256032"/>
          </a:xfrm>
          <a:prstGeom prst="ellipse">
            <a:avLst/>
          </a:prstGeom>
          <a:solidFill>
            <a:srgbClr val="3ED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2619756"/>
            <a:ext cx="25603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C1930"/>
                </a:solidFill>
                <a:latin typeface="Aptos"/>
              </a:rPr>
              <a:t>1</a:t>
            </a:r>
            <a:endParaRPr sz="900" b="1">
              <a:solidFill>
                <a:srgbClr val="0C1930"/>
              </a:solidFill>
              <a:latin typeface="Apto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94576" y="2587752"/>
            <a:ext cx="420624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Siswa membuka ProdiPath tanpa perlu login.</a:t>
            </a:r>
            <a:endParaRPr sz="12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6492240" y="3337560"/>
            <a:ext cx="256032" cy="256032"/>
          </a:xfrm>
          <a:prstGeom prst="ellipse">
            <a:avLst/>
          </a:prstGeom>
          <a:solidFill>
            <a:srgbClr val="3ED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332988"/>
            <a:ext cx="25603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C1930"/>
                </a:solidFill>
                <a:latin typeface="Aptos"/>
              </a:rPr>
              <a:t>2</a:t>
            </a:r>
            <a:endParaRPr sz="900" b="1">
              <a:solidFill>
                <a:srgbClr val="0C1930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894576" y="3300984"/>
            <a:ext cx="420624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Mengisi peminatan SMA, nilai, minat, dan kemampuan.</a:t>
            </a:r>
            <a:endParaRPr sz="12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6492240" y="4050792"/>
            <a:ext cx="256032" cy="256032"/>
          </a:xfrm>
          <a:prstGeom prst="ellipse">
            <a:avLst/>
          </a:prstGeom>
          <a:solidFill>
            <a:srgbClr val="3ED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046220"/>
            <a:ext cx="25603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C1930"/>
                </a:solidFill>
                <a:latin typeface="Aptos"/>
              </a:rPr>
              <a:t>3</a:t>
            </a:r>
            <a:endParaRPr sz="900" b="1">
              <a:solidFill>
                <a:srgbClr val="0C1930"/>
              </a:solidFill>
              <a:latin typeface="Apto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94576" y="4014216"/>
            <a:ext cx="420624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Model menghasilkan rekomendasi awal dari data rujukan.</a:t>
            </a:r>
            <a:endParaRPr sz="12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6492240" y="4764024"/>
            <a:ext cx="256032" cy="256032"/>
          </a:xfrm>
          <a:prstGeom prst="ellipse">
            <a:avLst/>
          </a:prstGeom>
          <a:solidFill>
            <a:srgbClr val="3ED0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4759452"/>
            <a:ext cx="256032" cy="20116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C1930"/>
                </a:solidFill>
                <a:latin typeface="Aptos"/>
              </a:rPr>
              <a:t>4</a:t>
            </a:r>
            <a:endParaRPr sz="900" b="1">
              <a:solidFill>
                <a:srgbClr val="0C1930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894576" y="4727448"/>
            <a:ext cx="4206240" cy="49377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FFFFFF"/>
                </a:solidFill>
                <a:latin typeface="Aptos"/>
              </a:rPr>
              <a:t>Siswa meninjau hasil, berdiskusi, dan mengecek info kampus.</a:t>
            </a:r>
            <a:endParaRPr sz="12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32688" y="5541264"/>
            <a:ext cx="4572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17085"/>
                </a:solidFill>
                <a:latin typeface="Aptos"/>
              </a:rPr>
              <a:t>Hasil: keputusan bergantung pada pencarian manual.</a:t>
            </a:r>
            <a:endParaRPr sz="1000" b="1">
              <a:solidFill>
                <a:srgbClr val="617085"/>
              </a:solidFill>
              <a:latin typeface="Aptos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73952" y="5541264"/>
            <a:ext cx="45720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D0CD"/>
                </a:solidFill>
                <a:latin typeface="Aptos"/>
              </a:rPr>
              <a:t>Hasil: saran awal + tetap dikonfirmasi manusia.</a:t>
            </a:r>
            <a:endParaRPr sz="1000" b="1">
              <a:solidFill>
                <a:srgbClr val="3ED0CD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6009</Words>
  <Application>WPS Presentation</Application>
  <PresentationFormat>On-screen Show (4:3)</PresentationFormat>
  <Paragraphs>307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Arial</vt:lpstr>
      <vt:lpstr>Aptos</vt:lpstr>
      <vt:lpstr>Segoe UI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ProdiPath ? Presentasi Rencana Proyek Akhir</dc:title>
  <dc:creator>Tim ProdiPath</dc:creator>
  <cp:keywords>ProdiPath, rekomendasi jurusan, siswa kelas XII</cp:keywords>
  <dc:description>generated using python-pptx</dc:description>
  <dc:subject>Sistem rekomendasi program studi kuliah untuk siswa kelas XII</dc:subject>
  <cp:lastModifiedBy>acer</cp:lastModifiedBy>
  <cp:revision>2</cp:revision>
  <dcterms:created xsi:type="dcterms:W3CDTF">2013-01-27T09:14:00Z</dcterms:created>
  <dcterms:modified xsi:type="dcterms:W3CDTF">2026-10-12T07:05:29Z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BB6EE201F5E748F59E46FE7201320C3D_12</vt:lpwstr>
  </property>
</Properties>
</file>